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84"/>
  </p:normalViewPr>
  <p:slideViewPr>
    <p:cSldViewPr snapToGrid="0">
      <p:cViewPr varScale="1">
        <p:scale>
          <a:sx n="114" d="100"/>
          <a:sy n="114" d="100"/>
        </p:scale>
        <p:origin x="5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86F5D17D-188A-472D-A44C-3B293FCD2EBD}"/>
              </a:ext>
            </a:extLst>
          </p:cNvPr>
          <p:cNvSpPr>
            <a:spLocks noGrp="1"/>
          </p:cNvSpPr>
          <p:nvPr/>
        </p:nvSpPr>
        <p:spPr>
          <a:xfrm>
            <a:off x="495300" y="333375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 dirty="0">
                <a:solidFill>
                  <a:srgbClr val="555555"/>
                </a:solidFill>
              </a:rPr>
              <a:t>RESEARCH GOAL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3A03411-B121-4B95-8260-D77BD67D2818}"/>
              </a:ext>
            </a:extLst>
          </p:cNvPr>
          <p:cNvSpPr>
            <a:spLocks noGrp="1"/>
          </p:cNvSpPr>
          <p:nvPr/>
        </p:nvSpPr>
        <p:spPr>
          <a:xfrm>
            <a:off x="495300" y="685800"/>
            <a:ext cx="1066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0A0A0A"/>
                </a:solidFill>
              </a:defRPr>
            </a:pPr>
            <a:r>
              <a:rPr sz="2700" b="1" i="0">
                <a:solidFill>
                  <a:srgbClr val="0A0A0A"/>
                </a:solidFill>
              </a:rPr>
              <a:t>Future Direction for the miRNA-Regulated Gene Network Model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2869AA-4836-42BB-A2C0-257B12AA067E}"/>
              </a:ext>
            </a:extLst>
          </p:cNvPr>
          <p:cNvSpPr>
            <a:spLocks noGrp="1"/>
          </p:cNvSpPr>
          <p:nvPr/>
        </p:nvSpPr>
        <p:spPr>
          <a:xfrm>
            <a:off x="495300" y="1476375"/>
            <a:ext cx="112014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567ECF-16EE-486F-A9B3-4340BEF343F3}"/>
              </a:ext>
            </a:extLst>
          </p:cNvPr>
          <p:cNvSpPr>
            <a:spLocks noGrp="1"/>
          </p:cNvSpPr>
          <p:nvPr/>
        </p:nvSpPr>
        <p:spPr>
          <a:xfrm>
            <a:off x="495300" y="1752600"/>
            <a:ext cx="5905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 i="0">
                <a:solidFill>
                  <a:srgbClr val="555555"/>
                </a:solidFill>
              </a:defRPr>
            </a:pPr>
            <a:r>
              <a:rPr sz="1950" b="0" i="0" dirty="0">
                <a:solidFill>
                  <a:srgbClr val="555555"/>
                </a:solidFill>
              </a:rPr>
              <a:t>A route from Hesse's quantitative perturbation methods to a data-driven extension of the Haque lin-4 network.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FB624D-11E7-4C34-B24F-867A68D77E23}"/>
              </a:ext>
            </a:extLst>
          </p:cNvPr>
          <p:cNvSpPr>
            <a:spLocks noGrp="1"/>
          </p:cNvSpPr>
          <p:nvPr/>
        </p:nvSpPr>
        <p:spPr>
          <a:xfrm>
            <a:off x="762000" y="3028950"/>
            <a:ext cx="3000375" cy="552450"/>
          </a:xfrm>
          <a:prstGeom prst="rect">
            <a:avLst/>
          </a:prstGeom>
          <a:solidFill>
            <a:srgbClr val="E7E7E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1EF58E-BF98-4CB5-AFEE-8709564B2F6A}"/>
              </a:ext>
            </a:extLst>
          </p:cNvPr>
          <p:cNvSpPr>
            <a:spLocks noGrp="1"/>
          </p:cNvSpPr>
          <p:nvPr/>
        </p:nvSpPr>
        <p:spPr>
          <a:xfrm>
            <a:off x="857250" y="3135584"/>
            <a:ext cx="27717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0A0A0A"/>
                </a:solidFill>
              </a:defRPr>
            </a:pPr>
            <a:r>
              <a:rPr sz="1350" b="1" i="0" dirty="0">
                <a:solidFill>
                  <a:srgbClr val="0A0A0A"/>
                </a:solidFill>
              </a:rPr>
              <a:t>Hesse 2021 / 2023 methods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25726E-16CF-405A-8F31-38B12ACA814A}"/>
              </a:ext>
            </a:extLst>
          </p:cNvPr>
          <p:cNvSpPr>
            <a:spLocks noGrp="1"/>
          </p:cNvSpPr>
          <p:nvPr/>
        </p:nvSpPr>
        <p:spPr>
          <a:xfrm>
            <a:off x="4905375" y="3028950"/>
            <a:ext cx="2905125" cy="552450"/>
          </a:xfrm>
          <a:prstGeom prst="rect">
            <a:avLst/>
          </a:prstGeom>
          <a:solidFill>
            <a:srgbClr val="E7E7E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7E5D201-A2F9-4226-B827-52F441FF69A0}"/>
              </a:ext>
            </a:extLst>
          </p:cNvPr>
          <p:cNvSpPr>
            <a:spLocks noGrp="1"/>
          </p:cNvSpPr>
          <p:nvPr/>
        </p:nvSpPr>
        <p:spPr>
          <a:xfrm>
            <a:off x="4953000" y="3136977"/>
            <a:ext cx="26765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0A0A0A"/>
                </a:solidFill>
              </a:defRPr>
            </a:pPr>
            <a:r>
              <a:rPr sz="1350" b="1" i="0" dirty="0">
                <a:solidFill>
                  <a:srgbClr val="0A0A0A"/>
                </a:solidFill>
              </a:rPr>
              <a:t>Haque model limitations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DFD81A-F033-4BB0-A59D-9747C663F6D1}"/>
              </a:ext>
            </a:extLst>
          </p:cNvPr>
          <p:cNvSpPr>
            <a:spLocks noGrp="1"/>
          </p:cNvSpPr>
          <p:nvPr/>
        </p:nvSpPr>
        <p:spPr>
          <a:xfrm>
            <a:off x="8953500" y="3028950"/>
            <a:ext cx="2381250" cy="552450"/>
          </a:xfrm>
          <a:prstGeom prst="rect">
            <a:avLst/>
          </a:prstGeom>
          <a:solidFill>
            <a:srgbClr val="E7E7E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D6CEBEC-235B-4E31-BE30-030289C99170}"/>
              </a:ext>
            </a:extLst>
          </p:cNvPr>
          <p:cNvSpPr>
            <a:spLocks noGrp="1"/>
          </p:cNvSpPr>
          <p:nvPr/>
        </p:nvSpPr>
        <p:spPr>
          <a:xfrm>
            <a:off x="9067800" y="3114675"/>
            <a:ext cx="2152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0A0A0A"/>
                </a:solidFill>
              </a:defRPr>
            </a:pPr>
            <a:r>
              <a:rPr sz="1350" b="1" i="0">
                <a:solidFill>
                  <a:srgbClr val="0A0A0A"/>
                </a:solidFill>
              </a:rPr>
              <a:t>Future direction</a:t>
            </a:r>
          </a:p>
        </p:txBody>
      </p:sp>
      <p:cxnSp>
        <p:nvCxnSpPr>
          <p:cNvPr id="32" name="直线箭头连接符 31"/>
          <p:cNvCxnSpPr>
            <a:stCxn id="5" idx="3"/>
            <a:endCxn id="7" idx="1"/>
          </p:cNvCxnSpPr>
          <p:nvPr/>
        </p:nvCxnSpPr>
        <p:spPr>
          <a:xfrm>
            <a:off x="3762375" y="3305175"/>
            <a:ext cx="1143000" cy="0"/>
          </a:xfrm>
          <a:prstGeom prst="straightConnector1">
            <a:avLst/>
          </a:prstGeom>
          <a:ln w="19050">
            <a:solidFill>
              <a:srgbClr val="FF6B35"/>
            </a:solidFill>
            <a:prstDash val="solid"/>
            <a:headEnd type="arrow" w="med" len="med"/>
          </a:ln>
        </p:spPr>
      </p:cxnSp>
      <p:cxnSp>
        <p:nvCxnSpPr>
          <p:cNvPr id="33" name="直线箭头连接符 32"/>
          <p:cNvCxnSpPr>
            <a:stCxn id="7" idx="3"/>
            <a:endCxn id="9" idx="1"/>
          </p:cNvCxnSpPr>
          <p:nvPr/>
        </p:nvCxnSpPr>
        <p:spPr>
          <a:xfrm>
            <a:off x="7810500" y="3305175"/>
            <a:ext cx="1143000" cy="0"/>
          </a:xfrm>
          <a:prstGeom prst="straightConnector1">
            <a:avLst/>
          </a:prstGeom>
          <a:ln w="19050">
            <a:solidFill>
              <a:srgbClr val="FF6B35"/>
            </a:solidFill>
            <a:prstDash val="solid"/>
            <a:headEnd type="arrow" w="med" len="med"/>
          </a:ln>
        </p:spPr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16765D39-E84D-4247-B8EE-00D4A2B213D9}"/>
              </a:ext>
            </a:extLst>
          </p:cNvPr>
          <p:cNvSpPr>
            <a:spLocks noGrp="1"/>
          </p:cNvSpPr>
          <p:nvPr/>
        </p:nvSpPr>
        <p:spPr>
          <a:xfrm>
            <a:off x="819150" y="434340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FF6B35"/>
                </a:solidFill>
              </a:defRPr>
            </a:pPr>
            <a:r>
              <a:rPr sz="1425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D7F3259-F285-432E-8357-EB8804862021}"/>
              </a:ext>
            </a:extLst>
          </p:cNvPr>
          <p:cNvSpPr>
            <a:spLocks noGrp="1"/>
          </p:cNvSpPr>
          <p:nvPr/>
        </p:nvSpPr>
        <p:spPr>
          <a:xfrm>
            <a:off x="1085850" y="4333875"/>
            <a:ext cx="982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0A0A0A"/>
                </a:solidFill>
              </a:defRPr>
            </a:pPr>
            <a:r>
              <a:rPr sz="1425" b="0" i="0">
                <a:solidFill>
                  <a:srgbClr val="0A0A0A"/>
                </a:solidFill>
              </a:rPr>
              <a:t>Haque model studies lin-4 miRNA regulation of lin-14 and lin-28.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1E7DBA0-9DBD-415B-9956-B9B661EF1EC3}"/>
              </a:ext>
            </a:extLst>
          </p:cNvPr>
          <p:cNvSpPr>
            <a:spLocks noGrp="1"/>
          </p:cNvSpPr>
          <p:nvPr/>
        </p:nvSpPr>
        <p:spPr>
          <a:xfrm>
            <a:off x="819150" y="466725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FF6B35"/>
                </a:solidFill>
              </a:defRPr>
            </a:pPr>
            <a:r>
              <a:rPr sz="1425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B40BC03-6B8A-4324-97C5-97514849555F}"/>
              </a:ext>
            </a:extLst>
          </p:cNvPr>
          <p:cNvSpPr>
            <a:spLocks noGrp="1"/>
          </p:cNvSpPr>
          <p:nvPr/>
        </p:nvSpPr>
        <p:spPr>
          <a:xfrm>
            <a:off x="1085850" y="4657725"/>
            <a:ext cx="982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0A0A0A"/>
                </a:solidFill>
              </a:defRPr>
            </a:pPr>
            <a:r>
              <a:rPr sz="1425" b="0" i="0">
                <a:solidFill>
                  <a:srgbClr val="0A0A0A"/>
                </a:solidFill>
              </a:rPr>
              <a:t>It explains the L1-to-L2 developmental-stage switch in C. elegans.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22A98D8-2D33-4173-ACDA-CA134412FE67}"/>
              </a:ext>
            </a:extLst>
          </p:cNvPr>
          <p:cNvSpPr>
            <a:spLocks noGrp="1"/>
          </p:cNvSpPr>
          <p:nvPr/>
        </p:nvSpPr>
        <p:spPr>
          <a:xfrm>
            <a:off x="819150" y="499110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FF6B35"/>
                </a:solidFill>
              </a:defRPr>
            </a:pPr>
            <a:r>
              <a:rPr sz="1425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DA65334-7F57-49F7-BCA5-C572D263E4FD}"/>
              </a:ext>
            </a:extLst>
          </p:cNvPr>
          <p:cNvSpPr>
            <a:spLocks noGrp="1"/>
          </p:cNvSpPr>
          <p:nvPr/>
        </p:nvSpPr>
        <p:spPr>
          <a:xfrm>
            <a:off x="1085850" y="4981575"/>
            <a:ext cx="982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0A0A0A"/>
                </a:solidFill>
              </a:defRPr>
            </a:pPr>
            <a:r>
              <a:rPr sz="1425" b="0" i="0">
                <a:solidFill>
                  <a:srgbClr val="0A0A0A"/>
                </a:solidFill>
              </a:rPr>
              <a:t>Core results include monostability, bistability, transcritical bifurcation, saddle-node bifurcation, and a miRNA-expression threshold.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4E78737-DB5E-4EAC-9B24-B5D7BF19256E}"/>
              </a:ext>
            </a:extLst>
          </p:cNvPr>
          <p:cNvSpPr>
            <a:spLocks noGrp="1"/>
          </p:cNvSpPr>
          <p:nvPr/>
        </p:nvSpPr>
        <p:spPr>
          <a:xfrm>
            <a:off x="819150" y="531495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FF6B35"/>
                </a:solidFill>
              </a:defRPr>
            </a:pPr>
            <a:r>
              <a:rPr sz="1425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B7D2C15-677C-4224-B57D-0205D30242D7}"/>
              </a:ext>
            </a:extLst>
          </p:cNvPr>
          <p:cNvSpPr>
            <a:spLocks noGrp="1"/>
          </p:cNvSpPr>
          <p:nvPr/>
        </p:nvSpPr>
        <p:spPr>
          <a:xfrm>
            <a:off x="1085850" y="5305425"/>
            <a:ext cx="982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0A0A0A"/>
                </a:solidFill>
              </a:defRPr>
            </a:pPr>
            <a:r>
              <a:rPr sz="1425" b="0" i="0">
                <a:solidFill>
                  <a:srgbClr val="0A0A0A"/>
                </a:solidFill>
              </a:rPr>
              <a:t>The goal is to transfer Hesse's modeling workflow into an expanded Haque framework.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918F2AA-29A8-4747-92BC-3FC7D4D1390F}"/>
              </a:ext>
            </a:extLst>
          </p:cNvPr>
          <p:cNvSpPr>
            <a:spLocks noGrp="1"/>
          </p:cNvSpPr>
          <p:nvPr/>
        </p:nvSpPr>
        <p:spPr>
          <a:xfrm>
            <a:off x="495300" y="64389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55555"/>
                </a:solidFill>
              </a:defRPr>
            </a:pPr>
            <a:r>
              <a:rPr sz="900" b="0" i="0" dirty="0">
                <a:solidFill>
                  <a:srgbClr val="555555"/>
                </a:solidFill>
              </a:rPr>
              <a:t>miRNA-regulated gene network model | 1/8</a:t>
            </a:r>
          </a:p>
        </p:txBody>
      </p:sp>
    </p:spTree>
    <p:extLst>
      <p:ext uri="{BB962C8B-B14F-4D97-AF65-F5344CB8AC3E}">
        <p14:creationId xmlns:p14="http://schemas.microsoft.com/office/powerpoint/2010/main" val="443875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41B7FE7-6777-4928-AC6E-CDA214247CA2}"/>
              </a:ext>
            </a:extLst>
          </p:cNvPr>
          <p:cNvSpPr>
            <a:spLocks noGrp="1"/>
          </p:cNvSpPr>
          <p:nvPr/>
        </p:nvSpPr>
        <p:spPr>
          <a:xfrm>
            <a:off x="495300" y="333375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PART I: TRANSFERABLE METHODS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B8F1653-8E72-4DC0-B793-B9307F85BDE2}"/>
              </a:ext>
            </a:extLst>
          </p:cNvPr>
          <p:cNvSpPr>
            <a:spLocks noGrp="1"/>
          </p:cNvSpPr>
          <p:nvPr/>
        </p:nvSpPr>
        <p:spPr>
          <a:xfrm>
            <a:off x="495300" y="685800"/>
            <a:ext cx="1066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0A0A0A"/>
                </a:solidFill>
              </a:defRPr>
            </a:pPr>
            <a:r>
              <a:rPr sz="2700" b="1" i="0">
                <a:solidFill>
                  <a:srgbClr val="0A0A0A"/>
                </a:solidFill>
              </a:rPr>
              <a:t>Hesse 2021 turns a qualitative pathway into a calibrated model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2E0C397-C3A8-481D-A07E-6D6B676EA8B4}"/>
              </a:ext>
            </a:extLst>
          </p:cNvPr>
          <p:cNvSpPr>
            <a:spLocks noGrp="1"/>
          </p:cNvSpPr>
          <p:nvPr/>
        </p:nvSpPr>
        <p:spPr>
          <a:xfrm>
            <a:off x="495300" y="1476375"/>
            <a:ext cx="112014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C26C49-E048-4842-A065-E136236F6A1E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10620375" cy="609600"/>
          </a:xfrm>
          <a:prstGeom prst="rect">
            <a:avLst/>
          </a:prstGeom>
          <a:solidFill>
            <a:srgbClr val="F1F1F1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702308" y="1952625"/>
            <a:ext cx="6777859" cy="4191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FA97D4E-F496-440F-811E-6DB86FC319AC}"/>
              </a:ext>
            </a:extLst>
          </p:cNvPr>
          <p:cNvSpPr>
            <a:spLocks noGrp="1"/>
          </p:cNvSpPr>
          <p:nvPr/>
        </p:nvSpPr>
        <p:spPr>
          <a:xfrm>
            <a:off x="762000" y="3048000"/>
            <a:ext cx="1619250" cy="495300"/>
          </a:xfrm>
          <a:prstGeom prst="rect">
            <a:avLst/>
          </a:prstGeom>
          <a:solidFill>
            <a:srgbClr val="E7E7E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CE6EB0-5FDB-4019-8B60-C02F1FC1FA6E}"/>
              </a:ext>
            </a:extLst>
          </p:cNvPr>
          <p:cNvSpPr>
            <a:spLocks noGrp="1"/>
          </p:cNvSpPr>
          <p:nvPr/>
        </p:nvSpPr>
        <p:spPr>
          <a:xfrm>
            <a:off x="876300" y="3133725"/>
            <a:ext cx="1390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0A0A0A"/>
                </a:solidFill>
              </a:defRPr>
            </a:pPr>
            <a:r>
              <a:rPr sz="1275" b="1" i="0">
                <a:solidFill>
                  <a:srgbClr val="0A0A0A"/>
                </a:solidFill>
              </a:rPr>
              <a:t>Clock genes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0447FF-D0B2-435A-9C05-2E46A7B6D9AA}"/>
              </a:ext>
            </a:extLst>
          </p:cNvPr>
          <p:cNvSpPr>
            <a:spLocks noGrp="1"/>
          </p:cNvSpPr>
          <p:nvPr/>
        </p:nvSpPr>
        <p:spPr>
          <a:xfrm>
            <a:off x="2905125" y="3048000"/>
            <a:ext cx="1619250" cy="495300"/>
          </a:xfrm>
          <a:prstGeom prst="rect">
            <a:avLst/>
          </a:prstGeom>
          <a:solidFill>
            <a:srgbClr val="E7E7E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6266965-A393-4365-AB9F-A14CB9E818A3}"/>
              </a:ext>
            </a:extLst>
          </p:cNvPr>
          <p:cNvSpPr>
            <a:spLocks noGrp="1"/>
          </p:cNvSpPr>
          <p:nvPr/>
        </p:nvSpPr>
        <p:spPr>
          <a:xfrm>
            <a:off x="3019425" y="3133725"/>
            <a:ext cx="1390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0A0A0A"/>
                </a:solidFill>
              </a:defRPr>
            </a:pPr>
            <a:r>
              <a:rPr sz="1275" b="1" i="0">
                <a:solidFill>
                  <a:srgbClr val="0A0A0A"/>
                </a:solidFill>
              </a:rPr>
              <a:t>mRNA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DA0E37-C531-4D37-8692-A2D451C99999}"/>
              </a:ext>
            </a:extLst>
          </p:cNvPr>
          <p:cNvSpPr>
            <a:spLocks noGrp="1"/>
          </p:cNvSpPr>
          <p:nvPr/>
        </p:nvSpPr>
        <p:spPr>
          <a:xfrm>
            <a:off x="5048250" y="3048000"/>
            <a:ext cx="1619250" cy="495300"/>
          </a:xfrm>
          <a:prstGeom prst="rect">
            <a:avLst/>
          </a:prstGeom>
          <a:solidFill>
            <a:srgbClr val="E7E7E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3FFF888-006E-4B57-B484-361840E5FE84}"/>
              </a:ext>
            </a:extLst>
          </p:cNvPr>
          <p:cNvSpPr>
            <a:spLocks noGrp="1"/>
          </p:cNvSpPr>
          <p:nvPr/>
        </p:nvSpPr>
        <p:spPr>
          <a:xfrm>
            <a:off x="5162550" y="3133725"/>
            <a:ext cx="1390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0A0A0A"/>
                </a:solidFill>
              </a:defRPr>
            </a:pPr>
            <a:r>
              <a:rPr sz="1275" b="1" i="0">
                <a:solidFill>
                  <a:srgbClr val="0A0A0A"/>
                </a:solidFill>
              </a:rPr>
              <a:t>Proteins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4E1C81F-7C46-4A9F-A2E6-FB5A26E17855}"/>
              </a:ext>
            </a:extLst>
          </p:cNvPr>
          <p:cNvSpPr>
            <a:spLocks noGrp="1"/>
          </p:cNvSpPr>
          <p:nvPr/>
        </p:nvSpPr>
        <p:spPr>
          <a:xfrm>
            <a:off x="7191375" y="3048000"/>
            <a:ext cx="1619250" cy="495300"/>
          </a:xfrm>
          <a:prstGeom prst="rect">
            <a:avLst/>
          </a:prstGeom>
          <a:solidFill>
            <a:srgbClr val="E7E7E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CF57DE3-4894-4F53-AB25-056994C3C31C}"/>
              </a:ext>
            </a:extLst>
          </p:cNvPr>
          <p:cNvSpPr>
            <a:spLocks noGrp="1"/>
          </p:cNvSpPr>
          <p:nvPr/>
        </p:nvSpPr>
        <p:spPr>
          <a:xfrm>
            <a:off x="7305675" y="3133725"/>
            <a:ext cx="1390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0A0A0A"/>
                </a:solidFill>
              </a:defRPr>
            </a:pPr>
            <a:r>
              <a:rPr sz="1275" b="1" i="0">
                <a:solidFill>
                  <a:srgbClr val="0A0A0A"/>
                </a:solidFill>
              </a:rPr>
              <a:t>Drug metabolism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BB101E9-FE0A-4E78-BF7D-2E0C3AFBD51B}"/>
              </a:ext>
            </a:extLst>
          </p:cNvPr>
          <p:cNvSpPr>
            <a:spLocks noGrp="1"/>
          </p:cNvSpPr>
          <p:nvPr/>
        </p:nvSpPr>
        <p:spPr>
          <a:xfrm>
            <a:off x="9334500" y="3048000"/>
            <a:ext cx="1619250" cy="495300"/>
          </a:xfrm>
          <a:prstGeom prst="rect">
            <a:avLst/>
          </a:prstGeom>
          <a:solidFill>
            <a:srgbClr val="FFE6D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29B5E43-9EBD-41F2-86A7-44374D1116BF}"/>
              </a:ext>
            </a:extLst>
          </p:cNvPr>
          <p:cNvSpPr>
            <a:spLocks noGrp="1"/>
          </p:cNvSpPr>
          <p:nvPr/>
        </p:nvSpPr>
        <p:spPr>
          <a:xfrm>
            <a:off x="9448800" y="3133725"/>
            <a:ext cx="1390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0A0A0A"/>
                </a:solidFill>
              </a:defRPr>
            </a:pPr>
            <a:r>
              <a:rPr sz="1275" b="1" i="0">
                <a:solidFill>
                  <a:srgbClr val="0A0A0A"/>
                </a:solidFill>
              </a:rPr>
              <a:t>Cytotoxicity</a:t>
            </a:r>
          </a:p>
        </p:txBody>
      </p:sp>
      <p:cxnSp>
        <p:nvCxnSpPr>
          <p:cNvPr id="44" name="直线箭头连接符 43"/>
          <p:cNvCxnSpPr>
            <a:stCxn id="6" idx="3"/>
            <a:endCxn id="8" idx="1"/>
          </p:cNvCxnSpPr>
          <p:nvPr/>
        </p:nvCxnSpPr>
        <p:spPr>
          <a:xfrm>
            <a:off x="2381250" y="3295650"/>
            <a:ext cx="523875" cy="0"/>
          </a:xfrm>
          <a:prstGeom prst="straightConnector1">
            <a:avLst/>
          </a:prstGeom>
          <a:ln w="19050">
            <a:solidFill>
              <a:srgbClr val="FF6B35"/>
            </a:solidFill>
            <a:prstDash val="solid"/>
            <a:headEnd type="arrow" w="med" len="med"/>
          </a:ln>
        </p:spPr>
      </p:cxnSp>
      <p:cxnSp>
        <p:nvCxnSpPr>
          <p:cNvPr id="45" name="直线箭头连接符 44"/>
          <p:cNvCxnSpPr>
            <a:stCxn id="8" idx="3"/>
            <a:endCxn id="10" idx="1"/>
          </p:cNvCxnSpPr>
          <p:nvPr/>
        </p:nvCxnSpPr>
        <p:spPr>
          <a:xfrm>
            <a:off x="4524375" y="3295650"/>
            <a:ext cx="523875" cy="0"/>
          </a:xfrm>
          <a:prstGeom prst="straightConnector1">
            <a:avLst/>
          </a:prstGeom>
          <a:ln w="19050">
            <a:solidFill>
              <a:srgbClr val="FF6B35"/>
            </a:solidFill>
            <a:prstDash val="solid"/>
            <a:headEnd type="arrow" w="med" len="med"/>
          </a:ln>
        </p:spPr>
      </p:cxnSp>
      <p:cxnSp>
        <p:nvCxnSpPr>
          <p:cNvPr id="46" name="直线箭头连接符 45"/>
          <p:cNvCxnSpPr>
            <a:stCxn id="10" idx="3"/>
            <a:endCxn id="12" idx="1"/>
          </p:cNvCxnSpPr>
          <p:nvPr/>
        </p:nvCxnSpPr>
        <p:spPr>
          <a:xfrm>
            <a:off x="6667500" y="3295650"/>
            <a:ext cx="523875" cy="0"/>
          </a:xfrm>
          <a:prstGeom prst="straightConnector1">
            <a:avLst/>
          </a:prstGeom>
          <a:ln w="19050">
            <a:solidFill>
              <a:srgbClr val="FF6B35"/>
            </a:solidFill>
            <a:prstDash val="solid"/>
            <a:headEnd type="arrow" w="med" len="med"/>
          </a:ln>
        </p:spPr>
      </p:cxnSp>
      <p:cxnSp>
        <p:nvCxnSpPr>
          <p:cNvPr id="47" name="直线箭头连接符 46"/>
          <p:cNvCxnSpPr>
            <a:stCxn id="12" idx="3"/>
            <a:endCxn id="14" idx="1"/>
          </p:cNvCxnSpPr>
          <p:nvPr/>
        </p:nvCxnSpPr>
        <p:spPr>
          <a:xfrm>
            <a:off x="8810625" y="3295650"/>
            <a:ext cx="523875" cy="0"/>
          </a:xfrm>
          <a:prstGeom prst="straightConnector1">
            <a:avLst/>
          </a:prstGeom>
          <a:ln w="19050">
            <a:solidFill>
              <a:srgbClr val="FF6B35"/>
            </a:solidFill>
            <a:prstDash val="solid"/>
            <a:headEnd type="arrow" w="med" len="med"/>
          </a:ln>
        </p:spPr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2D62276D-A737-44FE-B138-8FF553593DCF}"/>
              </a:ext>
            </a:extLst>
          </p:cNvPr>
          <p:cNvSpPr>
            <a:spLocks noGrp="1"/>
          </p:cNvSpPr>
          <p:nvPr/>
        </p:nvSpPr>
        <p:spPr>
          <a:xfrm>
            <a:off x="857250" y="434340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FF6B35"/>
                </a:solidFill>
              </a:defRPr>
            </a:pPr>
            <a:r>
              <a:rPr sz="1500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6B2091E-636C-4DFF-9FC5-43B8F1CCBC68}"/>
              </a:ext>
            </a:extLst>
          </p:cNvPr>
          <p:cNvSpPr>
            <a:spLocks noGrp="1"/>
          </p:cNvSpPr>
          <p:nvPr/>
        </p:nvSpPr>
        <p:spPr>
          <a:xfrm>
            <a:off x="1123950" y="4333875"/>
            <a:ext cx="9353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0A0A0A"/>
                </a:solidFill>
              </a:defRPr>
            </a:pPr>
            <a:r>
              <a:rPr sz="1500" b="0" i="0">
                <a:solidFill>
                  <a:srgbClr val="0A0A0A"/>
                </a:solidFill>
              </a:rPr>
              <a:t>Couple existing mechanistic models across biological layers.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114C7ED-DF03-4208-B3AC-651EFCEC5B3E}"/>
              </a:ext>
            </a:extLst>
          </p:cNvPr>
          <p:cNvSpPr>
            <a:spLocks noGrp="1"/>
          </p:cNvSpPr>
          <p:nvPr/>
        </p:nvSpPr>
        <p:spPr>
          <a:xfrm>
            <a:off x="857250" y="470535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FF6B35"/>
                </a:solidFill>
              </a:defRPr>
            </a:pPr>
            <a:r>
              <a:rPr sz="1500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88BD61-0508-4068-AC40-0AB344A412FB}"/>
              </a:ext>
            </a:extLst>
          </p:cNvPr>
          <p:cNvSpPr>
            <a:spLocks noGrp="1"/>
          </p:cNvSpPr>
          <p:nvPr/>
        </p:nvSpPr>
        <p:spPr>
          <a:xfrm>
            <a:off x="1123950" y="4695825"/>
            <a:ext cx="9353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0A0A0A"/>
                </a:solidFill>
              </a:defRPr>
            </a:pPr>
            <a:r>
              <a:rPr sz="1500" b="0" i="0">
                <a:solidFill>
                  <a:srgbClr val="0A0A0A"/>
                </a:solidFill>
              </a:rPr>
              <a:t>Fit parameters with real mRNA, protein, and cytotoxicity time-series data.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52E7298-0A1D-495C-A513-FBB1D54339D0}"/>
              </a:ext>
            </a:extLst>
          </p:cNvPr>
          <p:cNvSpPr>
            <a:spLocks noGrp="1"/>
          </p:cNvSpPr>
          <p:nvPr/>
        </p:nvSpPr>
        <p:spPr>
          <a:xfrm>
            <a:off x="857250" y="506730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FF6B35"/>
                </a:solidFill>
              </a:defRPr>
            </a:pPr>
            <a:r>
              <a:rPr sz="1500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CA98314-0AA7-4396-93E5-C98FCBA213FB}"/>
              </a:ext>
            </a:extLst>
          </p:cNvPr>
          <p:cNvSpPr>
            <a:spLocks noGrp="1"/>
          </p:cNvSpPr>
          <p:nvPr/>
        </p:nvSpPr>
        <p:spPr>
          <a:xfrm>
            <a:off x="1123950" y="5057775"/>
            <a:ext cx="9353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0A0A0A"/>
                </a:solidFill>
              </a:defRPr>
            </a:pPr>
            <a:r>
              <a:rPr sz="1500" b="0" i="0">
                <a:solidFill>
                  <a:srgbClr val="0A0A0A"/>
                </a:solidFill>
              </a:rPr>
              <a:t>Constrain parameter ranges using biological knowledge to reduce non-identifiability.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83E58F2-DA56-4EC5-842D-DC99E5519AB2}"/>
              </a:ext>
            </a:extLst>
          </p:cNvPr>
          <p:cNvSpPr>
            <a:spLocks noGrp="1"/>
          </p:cNvSpPr>
          <p:nvPr/>
        </p:nvSpPr>
        <p:spPr>
          <a:xfrm>
            <a:off x="857250" y="542925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FF6B35"/>
                </a:solidFill>
              </a:defRPr>
            </a:pPr>
            <a:r>
              <a:rPr sz="1500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7D2912F-3350-46B3-93A3-D67769F9D350}"/>
              </a:ext>
            </a:extLst>
          </p:cNvPr>
          <p:cNvSpPr>
            <a:spLocks noGrp="1"/>
          </p:cNvSpPr>
          <p:nvPr/>
        </p:nvSpPr>
        <p:spPr>
          <a:xfrm>
            <a:off x="1123950" y="5419725"/>
            <a:ext cx="9353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0A0A0A"/>
                </a:solidFill>
              </a:defRPr>
            </a:pPr>
            <a:r>
              <a:rPr sz="1500" b="0" i="0">
                <a:solidFill>
                  <a:srgbClr val="0A0A0A"/>
                </a:solidFill>
              </a:rPr>
              <a:t>Use Sobol global sensitivity analysis to identify parameters that dominate model outputs.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0B0314E-18A0-4CDF-AD92-8ED0C39CA147}"/>
              </a:ext>
            </a:extLst>
          </p:cNvPr>
          <p:cNvSpPr>
            <a:spLocks noGrp="1"/>
          </p:cNvSpPr>
          <p:nvPr/>
        </p:nvSpPr>
        <p:spPr>
          <a:xfrm>
            <a:off x="495300" y="64389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55555"/>
                </a:solidFill>
              </a:defRPr>
            </a:pPr>
            <a:r>
              <a:rPr sz="900" b="0" i="0">
                <a:solidFill>
                  <a:srgbClr val="555555"/>
                </a:solidFill>
              </a:rPr>
              <a:t>miRNA-regulated gene network model | 2/8</a:t>
            </a:r>
          </a:p>
        </p:txBody>
      </p:sp>
    </p:spTree>
    <p:extLst>
      <p:ext uri="{BB962C8B-B14F-4D97-AF65-F5344CB8AC3E}">
        <p14:creationId xmlns:p14="http://schemas.microsoft.com/office/powerpoint/2010/main" val="2069123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4D991AA-CAFD-465D-8880-FCFD8E224CDA}"/>
              </a:ext>
            </a:extLst>
          </p:cNvPr>
          <p:cNvSpPr>
            <a:spLocks noGrp="1"/>
          </p:cNvSpPr>
          <p:nvPr/>
        </p:nvSpPr>
        <p:spPr>
          <a:xfrm>
            <a:off x="495300" y="333375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HESSE 2021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BD76A8-2AF7-48E3-8A98-B67625B170E2}"/>
              </a:ext>
            </a:extLst>
          </p:cNvPr>
          <p:cNvSpPr>
            <a:spLocks noGrp="1"/>
          </p:cNvSpPr>
          <p:nvPr/>
        </p:nvSpPr>
        <p:spPr>
          <a:xfrm>
            <a:off x="495300" y="685800"/>
            <a:ext cx="1066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0A0A0A"/>
                </a:solidFill>
              </a:defRPr>
            </a:pPr>
            <a:r>
              <a:rPr sz="2700" b="1" i="0">
                <a:solidFill>
                  <a:srgbClr val="0A0A0A"/>
                </a:solidFill>
              </a:rPr>
              <a:t>Parameter estimation and sensitivity analysis make expansion tractable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64EC0A3-DB52-4E73-AE18-95404CDFB774}"/>
              </a:ext>
            </a:extLst>
          </p:cNvPr>
          <p:cNvSpPr>
            <a:spLocks noGrp="1"/>
          </p:cNvSpPr>
          <p:nvPr/>
        </p:nvSpPr>
        <p:spPr>
          <a:xfrm>
            <a:off x="495300" y="1476375"/>
            <a:ext cx="112014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12FE97-57A8-44B9-B518-2CB5C176E158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0A0A0A"/>
                </a:solidFill>
              </a:defRPr>
            </a:pPr>
            <a:r>
              <a:rPr sz="1800" b="1" i="0">
                <a:solidFill>
                  <a:srgbClr val="0A0A0A"/>
                </a:solidFill>
              </a:rPr>
              <a:t>Time-series weighted least squares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3373CF-4B12-4584-8CA8-495ADC132C69}"/>
              </a:ext>
            </a:extLst>
          </p:cNvPr>
          <p:cNvSpPr>
            <a:spLocks noGrp="1"/>
          </p:cNvSpPr>
          <p:nvPr/>
        </p:nvSpPr>
        <p:spPr>
          <a:xfrm>
            <a:off x="762000" y="2209800"/>
            <a:ext cx="10668000" cy="800100"/>
          </a:xfrm>
          <a:prstGeom prst="rect">
            <a:avLst/>
          </a:prstGeom>
          <a:solidFill>
            <a:srgbClr val="F1F1F1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16938" y="2305050"/>
            <a:ext cx="2958123" cy="6096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AB7B0F2-46FF-44B2-A06E-FC792995B5F3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0A0A0A"/>
                </a:solidFill>
              </a:defRPr>
            </a:pPr>
            <a:r>
              <a:rPr sz="1800" b="1" i="0">
                <a:solidFill>
                  <a:srgbClr val="0A0A0A"/>
                </a:solidFill>
              </a:rPr>
              <a:t>Sobol total-effect index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B6DCB8E-375A-4744-BB59-F0713439DCA9}"/>
              </a:ext>
            </a:extLst>
          </p:cNvPr>
          <p:cNvSpPr>
            <a:spLocks noGrp="1"/>
          </p:cNvSpPr>
          <p:nvPr/>
        </p:nvSpPr>
        <p:spPr>
          <a:xfrm>
            <a:off x="762000" y="3752850"/>
            <a:ext cx="10668000" cy="800100"/>
          </a:xfrm>
          <a:prstGeom prst="rect">
            <a:avLst/>
          </a:prstGeom>
          <a:solidFill>
            <a:srgbClr val="F1F1F1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635910" y="3848100"/>
            <a:ext cx="2920181" cy="6096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C3970D4D-F261-4CC6-BD2E-353AC746E233}"/>
              </a:ext>
            </a:extLst>
          </p:cNvPr>
          <p:cNvSpPr>
            <a:spLocks noGrp="1"/>
          </p:cNvSpPr>
          <p:nvPr/>
        </p:nvSpPr>
        <p:spPr>
          <a:xfrm>
            <a:off x="876300" y="4962525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FF6B35"/>
                </a:solidFill>
              </a:defRPr>
            </a:pPr>
            <a:r>
              <a:rPr sz="1350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3DAF575-753A-4EF4-8078-CBD2391FFF73}"/>
              </a:ext>
            </a:extLst>
          </p:cNvPr>
          <p:cNvSpPr>
            <a:spLocks noGrp="1"/>
          </p:cNvSpPr>
          <p:nvPr/>
        </p:nvSpPr>
        <p:spPr>
          <a:xfrm>
            <a:off x="1143000" y="4953000"/>
            <a:ext cx="97345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0A0A0A"/>
                </a:solidFill>
              </a:defRPr>
            </a:pPr>
            <a:r>
              <a:rPr sz="1350" b="0" i="0">
                <a:solidFill>
                  <a:srgbClr val="0A0A0A"/>
                </a:solidFill>
              </a:rPr>
              <a:t>theta denotes the parameters to estimate; model and data terms compare predictions with observations; w_j sets variable-specific weights.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8EF81CF-A42D-4A10-A8B0-BC4E27F95844}"/>
              </a:ext>
            </a:extLst>
          </p:cNvPr>
          <p:cNvSpPr>
            <a:spLocks noGrp="1"/>
          </p:cNvSpPr>
          <p:nvPr/>
        </p:nvSpPr>
        <p:spPr>
          <a:xfrm>
            <a:off x="876300" y="531495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FF6B35"/>
                </a:solidFill>
              </a:defRPr>
            </a:pPr>
            <a:r>
              <a:rPr sz="1350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D4A2353-0CAE-43EF-8C38-4315888C5633}"/>
              </a:ext>
            </a:extLst>
          </p:cNvPr>
          <p:cNvSpPr>
            <a:spLocks noGrp="1"/>
          </p:cNvSpPr>
          <p:nvPr/>
        </p:nvSpPr>
        <p:spPr>
          <a:xfrm>
            <a:off x="1143000" y="5305425"/>
            <a:ext cx="97345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0A0A0A"/>
                </a:solidFill>
              </a:defRPr>
            </a:pPr>
            <a:r>
              <a:rPr sz="1350" b="0" i="0">
                <a:solidFill>
                  <a:srgbClr val="0A0A0A"/>
                </a:solidFill>
              </a:rPr>
              <a:t>Sensitivity results identify which parameters need stronger experimental measurement.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971CDE4-F056-4C1F-97CE-E13595E181C1}"/>
              </a:ext>
            </a:extLst>
          </p:cNvPr>
          <p:cNvSpPr>
            <a:spLocks noGrp="1"/>
          </p:cNvSpPr>
          <p:nvPr/>
        </p:nvSpPr>
        <p:spPr>
          <a:xfrm>
            <a:off x="876300" y="5667375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FF6B35"/>
                </a:solidFill>
              </a:defRPr>
            </a:pPr>
            <a:r>
              <a:rPr sz="1350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B9C5047-556C-4C78-A425-DE1DFA9DC66B}"/>
              </a:ext>
            </a:extLst>
          </p:cNvPr>
          <p:cNvSpPr>
            <a:spLocks noGrp="1"/>
          </p:cNvSpPr>
          <p:nvPr/>
        </p:nvSpPr>
        <p:spPr>
          <a:xfrm>
            <a:off x="1143000" y="5657850"/>
            <a:ext cx="97345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0A0A0A"/>
                </a:solidFill>
              </a:defRPr>
            </a:pPr>
            <a:r>
              <a:rPr sz="1350" b="0" i="0">
                <a:solidFill>
                  <a:srgbClr val="0A0A0A"/>
                </a:solidFill>
              </a:rPr>
              <a:t>Low-impact parameters can be fixed or regularized before extending the model.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6E49DD1-C7BB-41AC-B38C-3FEE9D80F596}"/>
              </a:ext>
            </a:extLst>
          </p:cNvPr>
          <p:cNvSpPr>
            <a:spLocks noGrp="1"/>
          </p:cNvSpPr>
          <p:nvPr/>
        </p:nvSpPr>
        <p:spPr>
          <a:xfrm>
            <a:off x="495300" y="64389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55555"/>
                </a:solidFill>
              </a:defRPr>
            </a:pPr>
            <a:r>
              <a:rPr sz="900" b="0" i="0">
                <a:solidFill>
                  <a:srgbClr val="555555"/>
                </a:solidFill>
              </a:rPr>
              <a:t>miRNA-regulated gene network model | 3/8</a:t>
            </a:r>
          </a:p>
        </p:txBody>
      </p:sp>
    </p:spTree>
    <p:extLst>
      <p:ext uri="{BB962C8B-B14F-4D97-AF65-F5344CB8AC3E}">
        <p14:creationId xmlns:p14="http://schemas.microsoft.com/office/powerpoint/2010/main" val="1690109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BD03FDAF-57A1-45AE-B829-5FCA836156B4}"/>
              </a:ext>
            </a:extLst>
          </p:cNvPr>
          <p:cNvSpPr>
            <a:spLocks noGrp="1"/>
          </p:cNvSpPr>
          <p:nvPr/>
        </p:nvSpPr>
        <p:spPr>
          <a:xfrm>
            <a:off x="495300" y="333375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HESSE 2023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14A99A4-3EA6-4313-BA26-E7A682795F84}"/>
              </a:ext>
            </a:extLst>
          </p:cNvPr>
          <p:cNvSpPr>
            <a:spLocks noGrp="1"/>
          </p:cNvSpPr>
          <p:nvPr/>
        </p:nvSpPr>
        <p:spPr>
          <a:xfrm>
            <a:off x="495300" y="685800"/>
            <a:ext cx="1066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0A0A0A"/>
                </a:solidFill>
              </a:defRPr>
            </a:pPr>
            <a:r>
              <a:rPr sz="2700" b="1" i="0">
                <a:solidFill>
                  <a:srgbClr val="0A0A0A"/>
                </a:solidFill>
              </a:rPr>
              <a:t>Hesse 2023 adds external perturbations to the gene-network model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A2735D2-F3CC-43CB-A056-459641C4074D}"/>
              </a:ext>
            </a:extLst>
          </p:cNvPr>
          <p:cNvSpPr>
            <a:spLocks noGrp="1"/>
          </p:cNvSpPr>
          <p:nvPr/>
        </p:nvSpPr>
        <p:spPr>
          <a:xfrm>
            <a:off x="495300" y="1476375"/>
            <a:ext cx="112014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6D4CDAA-26FB-47BB-B78C-10DF6D532672}"/>
              </a:ext>
            </a:extLst>
          </p:cNvPr>
          <p:cNvSpPr>
            <a:spLocks noGrp="1"/>
          </p:cNvSpPr>
          <p:nvPr/>
        </p:nvSpPr>
        <p:spPr>
          <a:xfrm>
            <a:off x="781050" y="186690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FF6B35"/>
                </a:solidFill>
              </a:defRPr>
            </a:pPr>
            <a:r>
              <a:rPr sz="1500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7B708E-574D-4440-A7BE-7D077FE971B1}"/>
              </a:ext>
            </a:extLst>
          </p:cNvPr>
          <p:cNvSpPr>
            <a:spLocks noGrp="1"/>
          </p:cNvSpPr>
          <p:nvPr/>
        </p:nvSpPr>
        <p:spPr>
          <a:xfrm>
            <a:off x="1047750" y="1857375"/>
            <a:ext cx="98774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0A0A0A"/>
                </a:solidFill>
              </a:defRPr>
            </a:pPr>
            <a:r>
              <a:rPr sz="1500" b="0" i="0">
                <a:solidFill>
                  <a:srgbClr val="0A0A0A"/>
                </a:solidFill>
              </a:rPr>
              <a:t>Simulate core clock-gene knockouts: PER2KO, NR1D1KO, and ARNTLKO.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0B955C6-CB26-400F-BEF8-C41A1510E9BC}"/>
              </a:ext>
            </a:extLst>
          </p:cNvPr>
          <p:cNvSpPr>
            <a:spLocks noGrp="1"/>
          </p:cNvSpPr>
          <p:nvPr/>
        </p:nvSpPr>
        <p:spPr>
          <a:xfrm>
            <a:off x="781050" y="226695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FF6B35"/>
                </a:solidFill>
              </a:defRPr>
            </a:pPr>
            <a:r>
              <a:rPr sz="1500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3CBF28-2256-4C20-A6B7-47C99800272D}"/>
              </a:ext>
            </a:extLst>
          </p:cNvPr>
          <p:cNvSpPr>
            <a:spLocks noGrp="1"/>
          </p:cNvSpPr>
          <p:nvPr/>
        </p:nvSpPr>
        <p:spPr>
          <a:xfrm>
            <a:off x="1047750" y="2257425"/>
            <a:ext cx="98774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0A0A0A"/>
                </a:solidFill>
              </a:defRPr>
            </a:pPr>
            <a:r>
              <a:rPr sz="1500" b="0" i="0">
                <a:solidFill>
                  <a:srgbClr val="0A0A0A"/>
                </a:solidFill>
              </a:rPr>
              <a:t>Include drug-feedback effects on gene expression.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9A5EAC-B39D-4B5C-B7D7-16B4D85F1AB8}"/>
              </a:ext>
            </a:extLst>
          </p:cNvPr>
          <p:cNvSpPr>
            <a:spLocks noGrp="1"/>
          </p:cNvSpPr>
          <p:nvPr/>
        </p:nvSpPr>
        <p:spPr>
          <a:xfrm>
            <a:off x="781050" y="266700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FF6B35"/>
                </a:solidFill>
              </a:defRPr>
            </a:pPr>
            <a:r>
              <a:rPr sz="1500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C56F02E-35FF-4D9A-818C-1D18E040BAFA}"/>
              </a:ext>
            </a:extLst>
          </p:cNvPr>
          <p:cNvSpPr>
            <a:spLocks noGrp="1"/>
          </p:cNvSpPr>
          <p:nvPr/>
        </p:nvSpPr>
        <p:spPr>
          <a:xfrm>
            <a:off x="1047750" y="2657475"/>
            <a:ext cx="98774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0A0A0A"/>
                </a:solidFill>
              </a:defRPr>
            </a:pPr>
            <a:r>
              <a:rPr sz="1500" b="0" i="0">
                <a:solidFill>
                  <a:srgbClr val="0A0A0A"/>
                </a:solidFill>
              </a:rPr>
              <a:t>Represent external Zeitgebers such as light, feeding or metabolic cues, and pharmacological perturbation.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84E2E79-C25C-4359-8D3F-77317EE5C9BB}"/>
              </a:ext>
            </a:extLst>
          </p:cNvPr>
          <p:cNvSpPr>
            <a:spLocks noGrp="1"/>
          </p:cNvSpPr>
          <p:nvPr/>
        </p:nvSpPr>
        <p:spPr>
          <a:xfrm>
            <a:off x="781050" y="306705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FF6B35"/>
                </a:solidFill>
              </a:defRPr>
            </a:pPr>
            <a:r>
              <a:rPr sz="1500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BA68099-EBAF-4560-94BD-B341DA096B8D}"/>
              </a:ext>
            </a:extLst>
          </p:cNvPr>
          <p:cNvSpPr>
            <a:spLocks noGrp="1"/>
          </p:cNvSpPr>
          <p:nvPr/>
        </p:nvSpPr>
        <p:spPr>
          <a:xfrm>
            <a:off x="1047750" y="3057525"/>
            <a:ext cx="98774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0A0A0A"/>
                </a:solidFill>
              </a:defRPr>
            </a:pPr>
            <a:r>
              <a:rPr sz="1500" b="0" i="0">
                <a:solidFill>
                  <a:srgbClr val="0A0A0A"/>
                </a:solidFill>
              </a:rPr>
              <a:t>Vary pulse timing, intensity, and duration.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E2F1F90-76E4-477E-965B-A98A136C216B}"/>
              </a:ext>
            </a:extLst>
          </p:cNvPr>
          <p:cNvSpPr>
            <a:spLocks noGrp="1"/>
          </p:cNvSpPr>
          <p:nvPr/>
        </p:nvSpPr>
        <p:spPr>
          <a:xfrm>
            <a:off x="781050" y="346710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FF6B35"/>
                </a:solidFill>
              </a:defRPr>
            </a:pPr>
            <a:r>
              <a:rPr sz="1500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CFEEA92-F16D-44CB-8678-66DED1C0ACB5}"/>
              </a:ext>
            </a:extLst>
          </p:cNvPr>
          <p:cNvSpPr>
            <a:spLocks noGrp="1"/>
          </p:cNvSpPr>
          <p:nvPr/>
        </p:nvSpPr>
        <p:spPr>
          <a:xfrm>
            <a:off x="1047750" y="3457575"/>
            <a:ext cx="98774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0A0A0A"/>
                </a:solidFill>
              </a:defRPr>
            </a:pPr>
            <a:r>
              <a:rPr sz="1500" b="0" i="0">
                <a:solidFill>
                  <a:srgbClr val="0A0A0A"/>
                </a:solidFill>
              </a:rPr>
              <a:t>Compare amplitude, phase, and drug-toxicity changes before and after perturbation.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E149951-76F5-4F5A-9238-43740EB890C6}"/>
              </a:ext>
            </a:extLst>
          </p:cNvPr>
          <p:cNvSpPr>
            <a:spLocks noGrp="1"/>
          </p:cNvSpPr>
          <p:nvPr/>
        </p:nvSpPr>
        <p:spPr>
          <a:xfrm>
            <a:off x="1066800" y="4619625"/>
            <a:ext cx="10048875" cy="666750"/>
          </a:xfrm>
          <a:prstGeom prst="rect">
            <a:avLst/>
          </a:prstGeom>
          <a:solidFill>
            <a:srgbClr val="F1F1F1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31118" y="4714875"/>
            <a:ext cx="8920238" cy="47625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9FBB074E-4623-4E43-B9D3-54EC945396B9}"/>
              </a:ext>
            </a:extLst>
          </p:cNvPr>
          <p:cNvSpPr>
            <a:spLocks noGrp="1"/>
          </p:cNvSpPr>
          <p:nvPr/>
        </p:nvSpPr>
        <p:spPr>
          <a:xfrm>
            <a:off x="1066800" y="5572125"/>
            <a:ext cx="962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 i="0">
                <a:solidFill>
                  <a:srgbClr val="555555"/>
                </a:solidFill>
              </a:defRPr>
            </a:pPr>
            <a:r>
              <a:rPr sz="1650" b="0" i="0">
                <a:solidFill>
                  <a:srgbClr val="555555"/>
                </a:solidFill>
              </a:rPr>
              <a:t>Transferable idea: treat environmental input as an explicit control variable, not just background context.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4013786-B140-41D4-A2AD-DE8AC3CE4E11}"/>
              </a:ext>
            </a:extLst>
          </p:cNvPr>
          <p:cNvSpPr>
            <a:spLocks noGrp="1"/>
          </p:cNvSpPr>
          <p:nvPr/>
        </p:nvSpPr>
        <p:spPr>
          <a:xfrm>
            <a:off x="495300" y="64389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55555"/>
                </a:solidFill>
              </a:defRPr>
            </a:pPr>
            <a:r>
              <a:rPr sz="900" b="0" i="0">
                <a:solidFill>
                  <a:srgbClr val="555555"/>
                </a:solidFill>
              </a:rPr>
              <a:t>miRNA-regulated gene network model | 4/8</a:t>
            </a:r>
          </a:p>
        </p:txBody>
      </p:sp>
    </p:spTree>
    <p:extLst>
      <p:ext uri="{BB962C8B-B14F-4D97-AF65-F5344CB8AC3E}">
        <p14:creationId xmlns:p14="http://schemas.microsoft.com/office/powerpoint/2010/main" val="123887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E519915-7A70-4A7D-97B1-F880A30B3EE1}"/>
              </a:ext>
            </a:extLst>
          </p:cNvPr>
          <p:cNvSpPr>
            <a:spLocks noGrp="1"/>
          </p:cNvSpPr>
          <p:nvPr/>
        </p:nvSpPr>
        <p:spPr>
          <a:xfrm>
            <a:off x="495300" y="333375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HESSE 2023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ACE5F43-0A88-43C9-8C9E-750641E885DC}"/>
              </a:ext>
            </a:extLst>
          </p:cNvPr>
          <p:cNvSpPr>
            <a:spLocks noGrp="1"/>
          </p:cNvSpPr>
          <p:nvPr/>
        </p:nvSpPr>
        <p:spPr>
          <a:xfrm>
            <a:off x="495300" y="685800"/>
            <a:ext cx="1066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0A0A0A"/>
                </a:solidFill>
              </a:defRPr>
            </a:pPr>
            <a:r>
              <a:rPr sz="2700" b="1" i="0">
                <a:solidFill>
                  <a:srgbClr val="0A0A0A"/>
                </a:solidFill>
              </a:rPr>
              <a:t>Pulse inputs and regularization separate true effects from overfitting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925A0F2-F27C-409B-8B0C-D065CAF34CCE}"/>
              </a:ext>
            </a:extLst>
          </p:cNvPr>
          <p:cNvSpPr>
            <a:spLocks noGrp="1"/>
          </p:cNvSpPr>
          <p:nvPr/>
        </p:nvSpPr>
        <p:spPr>
          <a:xfrm>
            <a:off x="495300" y="1476375"/>
            <a:ext cx="112014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F09105D-BAA0-4FDA-BC40-B95F733B0BB1}"/>
              </a:ext>
            </a:extLst>
          </p:cNvPr>
          <p:cNvSpPr>
            <a:spLocks noGrp="1"/>
          </p:cNvSpPr>
          <p:nvPr/>
        </p:nvSpPr>
        <p:spPr>
          <a:xfrm>
            <a:off x="762000" y="176212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0A0A0A"/>
                </a:solidFill>
              </a:defRPr>
            </a:pPr>
            <a:r>
              <a:rPr sz="1800" b="1" i="0">
                <a:solidFill>
                  <a:srgbClr val="0A0A0A"/>
                </a:solidFill>
              </a:rPr>
              <a:t>External pulse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6C7BE62-B1DC-4BFA-94B6-3D3CB6A7500F}"/>
              </a:ext>
            </a:extLst>
          </p:cNvPr>
          <p:cNvSpPr>
            <a:spLocks noGrp="1"/>
          </p:cNvSpPr>
          <p:nvPr/>
        </p:nvSpPr>
        <p:spPr>
          <a:xfrm>
            <a:off x="762000" y="2171700"/>
            <a:ext cx="4857750" cy="1257300"/>
          </a:xfrm>
          <a:prstGeom prst="rect">
            <a:avLst/>
          </a:prstGeom>
          <a:solidFill>
            <a:srgbClr val="F1F1F1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36268" y="2266950"/>
            <a:ext cx="3909213" cy="10668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30BAB61-DCE8-4AEE-B703-8B6BA66844A3}"/>
              </a:ext>
            </a:extLst>
          </p:cNvPr>
          <p:cNvSpPr>
            <a:spLocks noGrp="1"/>
          </p:cNvSpPr>
          <p:nvPr/>
        </p:nvSpPr>
        <p:spPr>
          <a:xfrm>
            <a:off x="6381750" y="176212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0A0A0A"/>
                </a:solidFill>
              </a:defRPr>
            </a:pPr>
            <a:r>
              <a:rPr sz="1800" b="1" i="0">
                <a:solidFill>
                  <a:srgbClr val="0A0A0A"/>
                </a:solidFill>
              </a:rPr>
              <a:t>Regularized objective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944C43-5841-44EE-9096-451EB7C770E7}"/>
              </a:ext>
            </a:extLst>
          </p:cNvPr>
          <p:cNvSpPr>
            <a:spLocks noGrp="1"/>
          </p:cNvSpPr>
          <p:nvPr/>
        </p:nvSpPr>
        <p:spPr>
          <a:xfrm>
            <a:off x="6381750" y="2171700"/>
            <a:ext cx="4857750" cy="1257300"/>
          </a:xfrm>
          <a:prstGeom prst="rect">
            <a:avLst/>
          </a:prstGeom>
          <a:solidFill>
            <a:srgbClr val="F1F1F1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53200" y="2341103"/>
            <a:ext cx="4514850" cy="91849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F972C38E-FEAB-43DA-BA0D-9F1837D64CA7}"/>
              </a:ext>
            </a:extLst>
          </p:cNvPr>
          <p:cNvSpPr>
            <a:spLocks noGrp="1"/>
          </p:cNvSpPr>
          <p:nvPr/>
        </p:nvSpPr>
        <p:spPr>
          <a:xfrm>
            <a:off x="904875" y="415290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FF6B35"/>
                </a:solidFill>
              </a:defRPr>
            </a:pPr>
            <a:r>
              <a:rPr sz="1500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DA049C4-0D1A-4209-97D1-DA4404003705}"/>
              </a:ext>
            </a:extLst>
          </p:cNvPr>
          <p:cNvSpPr>
            <a:spLocks noGrp="1"/>
          </p:cNvSpPr>
          <p:nvPr/>
        </p:nvSpPr>
        <p:spPr>
          <a:xfrm>
            <a:off x="1171575" y="4143375"/>
            <a:ext cx="9734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0A0A0A"/>
                </a:solidFill>
              </a:defRPr>
            </a:pPr>
            <a:r>
              <a:rPr sz="1500" b="0" i="0">
                <a:solidFill>
                  <a:srgbClr val="0A0A0A"/>
                </a:solidFill>
              </a:rPr>
              <a:t>Pulse parameters define the experimental control space: intensity A, duration T, and start time t_p.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CB4737C-F9CC-467F-BF2C-685E5DDF82A5}"/>
              </a:ext>
            </a:extLst>
          </p:cNvPr>
          <p:cNvSpPr>
            <a:spLocks noGrp="1"/>
          </p:cNvSpPr>
          <p:nvPr/>
        </p:nvSpPr>
        <p:spPr>
          <a:xfrm>
            <a:off x="904875" y="457200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FF6B35"/>
                </a:solidFill>
              </a:defRPr>
            </a:pPr>
            <a:r>
              <a:rPr sz="1500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5109891-4E29-4EBD-95DA-F166855E3F03}"/>
              </a:ext>
            </a:extLst>
          </p:cNvPr>
          <p:cNvSpPr>
            <a:spLocks noGrp="1"/>
          </p:cNvSpPr>
          <p:nvPr/>
        </p:nvSpPr>
        <p:spPr>
          <a:xfrm>
            <a:off x="1171575" y="4562475"/>
            <a:ext cx="9734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0A0A0A"/>
                </a:solidFill>
              </a:defRPr>
            </a:pPr>
            <a:r>
              <a:rPr sz="1500" b="0" i="0">
                <a:solidFill>
                  <a:srgbClr val="0A0A0A"/>
                </a:solidFill>
              </a:rPr>
              <a:t>LASSO-like regularization prevents unnecessary simultaneous parameter changes.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0F53C64-268E-4B84-8FB1-245217FD78F8}"/>
              </a:ext>
            </a:extLst>
          </p:cNvPr>
          <p:cNvSpPr>
            <a:spLocks noGrp="1"/>
          </p:cNvSpPr>
          <p:nvPr/>
        </p:nvSpPr>
        <p:spPr>
          <a:xfrm>
            <a:off x="904875" y="499110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FF6B35"/>
                </a:solidFill>
              </a:defRPr>
            </a:pPr>
            <a:r>
              <a:rPr sz="1500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5D2C415-57E9-4158-8E5D-9B8B5E130CFC}"/>
              </a:ext>
            </a:extLst>
          </p:cNvPr>
          <p:cNvSpPr>
            <a:spLocks noGrp="1"/>
          </p:cNvSpPr>
          <p:nvPr/>
        </p:nvSpPr>
        <p:spPr>
          <a:xfrm>
            <a:off x="1171575" y="4981575"/>
            <a:ext cx="9734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0A0A0A"/>
                </a:solidFill>
              </a:defRPr>
            </a:pPr>
            <a:r>
              <a:rPr sz="1500" b="0" i="0">
                <a:solidFill>
                  <a:srgbClr val="0A0A0A"/>
                </a:solidFill>
              </a:rPr>
              <a:t>The same framework can compare cell types, genotypes, and external conditions while preserving interpretability.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2C768F2-C60B-4972-8C8E-42D3C924366C}"/>
              </a:ext>
            </a:extLst>
          </p:cNvPr>
          <p:cNvSpPr>
            <a:spLocks noGrp="1"/>
          </p:cNvSpPr>
          <p:nvPr/>
        </p:nvSpPr>
        <p:spPr>
          <a:xfrm>
            <a:off x="495300" y="64389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55555"/>
                </a:solidFill>
              </a:defRPr>
            </a:pPr>
            <a:r>
              <a:rPr sz="900" b="0" i="0">
                <a:solidFill>
                  <a:srgbClr val="555555"/>
                </a:solidFill>
              </a:rPr>
              <a:t>miRNA-regulated gene network model | 5/8</a:t>
            </a:r>
          </a:p>
        </p:txBody>
      </p:sp>
    </p:spTree>
    <p:extLst>
      <p:ext uri="{BB962C8B-B14F-4D97-AF65-F5344CB8AC3E}">
        <p14:creationId xmlns:p14="http://schemas.microsoft.com/office/powerpoint/2010/main" val="1538783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D50ACB72-164D-4381-A024-FFB7C0CB22DB}"/>
              </a:ext>
            </a:extLst>
          </p:cNvPr>
          <p:cNvSpPr>
            <a:spLocks noGrp="1"/>
          </p:cNvSpPr>
          <p:nvPr/>
        </p:nvSpPr>
        <p:spPr>
          <a:xfrm>
            <a:off x="495300" y="333375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PART II: GAP IN THE CURRENT MODEL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87F0254-E658-446C-8EF6-F14C8E2DC63A}"/>
              </a:ext>
            </a:extLst>
          </p:cNvPr>
          <p:cNvSpPr>
            <a:spLocks noGrp="1"/>
          </p:cNvSpPr>
          <p:nvPr/>
        </p:nvSpPr>
        <p:spPr>
          <a:xfrm>
            <a:off x="495300" y="685800"/>
            <a:ext cx="1066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0A0A0A"/>
                </a:solidFill>
              </a:defRPr>
            </a:pPr>
            <a:r>
              <a:rPr sz="2700" b="1" i="0">
                <a:solidFill>
                  <a:srgbClr val="0A0A0A"/>
                </a:solidFill>
              </a:rPr>
              <a:t>The current Haque model explains switching but leaves input control implicit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7A161F1-9F35-44F3-B1E5-09ECB26CEF9A}"/>
              </a:ext>
            </a:extLst>
          </p:cNvPr>
          <p:cNvSpPr>
            <a:spLocks noGrp="1"/>
          </p:cNvSpPr>
          <p:nvPr/>
        </p:nvSpPr>
        <p:spPr>
          <a:xfrm>
            <a:off x="495300" y="1476375"/>
            <a:ext cx="112014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9A815FA-D886-4A37-BD87-A8782B1DF9CB}"/>
              </a:ext>
            </a:extLst>
          </p:cNvPr>
          <p:cNvSpPr>
            <a:spLocks noGrp="1"/>
          </p:cNvSpPr>
          <p:nvPr/>
        </p:nvSpPr>
        <p:spPr>
          <a:xfrm>
            <a:off x="781050" y="1838325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FF6B35"/>
                </a:solidFill>
              </a:defRPr>
            </a:pPr>
            <a:r>
              <a:rPr sz="1500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F4207F-469E-4BBF-9887-AC1AA2501C69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10115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0A0A0A"/>
                </a:solidFill>
              </a:defRPr>
            </a:pPr>
            <a:r>
              <a:rPr sz="1500" b="0" i="0">
                <a:solidFill>
                  <a:srgbClr val="0A0A0A"/>
                </a:solidFill>
              </a:rPr>
              <a:t>Most parameters are assumed rather than calibrated against time-series measurements.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351F0C8-AC70-48C6-80EF-EA1EBC29F134}"/>
              </a:ext>
            </a:extLst>
          </p:cNvPr>
          <p:cNvSpPr>
            <a:spLocks noGrp="1"/>
          </p:cNvSpPr>
          <p:nvPr/>
        </p:nvSpPr>
        <p:spPr>
          <a:xfrm>
            <a:off x="781050" y="2276475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FF6B35"/>
                </a:solidFill>
              </a:defRPr>
            </a:pPr>
            <a:r>
              <a:rPr sz="1500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4A4A21-60DE-47E8-9114-06D96BAF2104}"/>
              </a:ext>
            </a:extLst>
          </p:cNvPr>
          <p:cNvSpPr>
            <a:spLocks noGrp="1"/>
          </p:cNvSpPr>
          <p:nvPr/>
        </p:nvSpPr>
        <p:spPr>
          <a:xfrm>
            <a:off x="1047750" y="2266950"/>
            <a:ext cx="10115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0A0A0A"/>
                </a:solidFill>
              </a:defRPr>
            </a:pPr>
            <a:r>
              <a:rPr sz="1500" b="0" i="0">
                <a:solidFill>
                  <a:srgbClr val="0A0A0A"/>
                </a:solidFill>
              </a:rPr>
              <a:t>The lin-4 production rate zeta is constant or specified as a prescribed time function.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472BC9-2F3C-479D-B443-D08B9BD0D3E4}"/>
              </a:ext>
            </a:extLst>
          </p:cNvPr>
          <p:cNvSpPr>
            <a:spLocks noGrp="1"/>
          </p:cNvSpPr>
          <p:nvPr/>
        </p:nvSpPr>
        <p:spPr>
          <a:xfrm>
            <a:off x="781050" y="2714625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FF6B35"/>
                </a:solidFill>
              </a:defRPr>
            </a:pPr>
            <a:r>
              <a:rPr sz="1500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09C0A2-44ED-4735-B9B5-B0603FD7D77C}"/>
              </a:ext>
            </a:extLst>
          </p:cNvPr>
          <p:cNvSpPr>
            <a:spLocks noGrp="1"/>
          </p:cNvSpPr>
          <p:nvPr/>
        </p:nvSpPr>
        <p:spPr>
          <a:xfrm>
            <a:off x="1047750" y="2705100"/>
            <a:ext cx="10115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0A0A0A"/>
                </a:solidFill>
              </a:defRPr>
            </a:pPr>
            <a:r>
              <a:rPr sz="1500" b="0" i="0">
                <a:solidFill>
                  <a:srgbClr val="0A0A0A"/>
                </a:solidFill>
              </a:rPr>
              <a:t>The pathway from external nutritional signal to lin-4 expression is not modeled explicitly.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86796A6-6560-425C-B3FD-3C47BB4BC042}"/>
              </a:ext>
            </a:extLst>
          </p:cNvPr>
          <p:cNvSpPr>
            <a:spLocks noGrp="1"/>
          </p:cNvSpPr>
          <p:nvPr/>
        </p:nvSpPr>
        <p:spPr>
          <a:xfrm>
            <a:off x="781050" y="3152775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FF6B35"/>
                </a:solidFill>
              </a:defRPr>
            </a:pPr>
            <a:r>
              <a:rPr sz="1500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CF4484A-BF6F-4DC1-AE04-00D4EBC47B4E}"/>
              </a:ext>
            </a:extLst>
          </p:cNvPr>
          <p:cNvSpPr>
            <a:spLocks noGrp="1"/>
          </p:cNvSpPr>
          <p:nvPr/>
        </p:nvSpPr>
        <p:spPr>
          <a:xfrm>
            <a:off x="1047750" y="3143250"/>
            <a:ext cx="10115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0A0A0A"/>
                </a:solidFill>
              </a:defRPr>
            </a:pPr>
            <a:r>
              <a:rPr sz="1500" b="0" i="0">
                <a:solidFill>
                  <a:srgbClr val="0A0A0A"/>
                </a:solidFill>
              </a:rPr>
              <a:t>The model focuses on equilibria and bifurcations more than stimulus timing, intensity, duration, switching time, or abnormal trajectories.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B7FAB99-7D0B-402C-ACF4-F3B0B6A271BC}"/>
              </a:ext>
            </a:extLst>
          </p:cNvPr>
          <p:cNvSpPr>
            <a:spLocks noGrp="1"/>
          </p:cNvSpPr>
          <p:nvPr/>
        </p:nvSpPr>
        <p:spPr>
          <a:xfrm>
            <a:off x="781050" y="3590925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FF6B35"/>
                </a:solidFill>
              </a:defRPr>
            </a:pPr>
            <a:r>
              <a:rPr sz="1500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0E9D351-3931-4762-A1CB-594A61319B57}"/>
              </a:ext>
            </a:extLst>
          </p:cNvPr>
          <p:cNvSpPr>
            <a:spLocks noGrp="1"/>
          </p:cNvSpPr>
          <p:nvPr/>
        </p:nvSpPr>
        <p:spPr>
          <a:xfrm>
            <a:off x="1047750" y="3581400"/>
            <a:ext cx="10115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0A0A0A"/>
                </a:solidFill>
              </a:defRPr>
            </a:pPr>
            <a:r>
              <a:rPr sz="1500" b="0" i="0">
                <a:solidFill>
                  <a:srgbClr val="0A0A0A"/>
                </a:solidFill>
              </a:rPr>
              <a:t>Systematic parameter sensitivity and identifiability analysis remain open.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78D2B04-B38D-493E-A24F-74A4B72FCAB2}"/>
              </a:ext>
            </a:extLst>
          </p:cNvPr>
          <p:cNvSpPr>
            <a:spLocks noGrp="1"/>
          </p:cNvSpPr>
          <p:nvPr/>
        </p:nvSpPr>
        <p:spPr>
          <a:xfrm>
            <a:off x="1143000" y="5143500"/>
            <a:ext cx="9525000" cy="609600"/>
          </a:xfrm>
          <a:prstGeom prst="rect">
            <a:avLst/>
          </a:prstGeom>
          <a:solidFill>
            <a:srgbClr val="F1F1F1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50873" y="5238750"/>
            <a:ext cx="8909255" cy="41910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0986A6DF-648D-4299-B1E1-5F4101BC5444}"/>
              </a:ext>
            </a:extLst>
          </p:cNvPr>
          <p:cNvSpPr>
            <a:spLocks noGrp="1"/>
          </p:cNvSpPr>
          <p:nvPr/>
        </p:nvSpPr>
        <p:spPr>
          <a:xfrm>
            <a:off x="495300" y="64389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55555"/>
                </a:solidFill>
              </a:defRPr>
            </a:pPr>
            <a:r>
              <a:rPr sz="900" b="0" i="0">
                <a:solidFill>
                  <a:srgbClr val="555555"/>
                </a:solidFill>
              </a:rPr>
              <a:t>miRNA-regulated gene network model | 6/8</a:t>
            </a:r>
          </a:p>
        </p:txBody>
      </p:sp>
    </p:spTree>
    <p:extLst>
      <p:ext uri="{BB962C8B-B14F-4D97-AF65-F5344CB8AC3E}">
        <p14:creationId xmlns:p14="http://schemas.microsoft.com/office/powerpoint/2010/main" val="1338830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AC1C49E-E588-4828-87BE-0E997092A6B4}"/>
              </a:ext>
            </a:extLst>
          </p:cNvPr>
          <p:cNvSpPr>
            <a:spLocks noGrp="1"/>
          </p:cNvSpPr>
          <p:nvPr/>
        </p:nvSpPr>
        <p:spPr>
          <a:xfrm>
            <a:off x="495300" y="333375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PART III: RECOMMENDED DIRECTION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830295-F81A-425E-944D-F23D8266DDF8}"/>
              </a:ext>
            </a:extLst>
          </p:cNvPr>
          <p:cNvSpPr>
            <a:spLocks noGrp="1"/>
          </p:cNvSpPr>
          <p:nvPr/>
        </p:nvSpPr>
        <p:spPr>
          <a:xfrm>
            <a:off x="495300" y="685800"/>
            <a:ext cx="1066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0A0A0A"/>
                </a:solidFill>
              </a:defRPr>
            </a:pPr>
            <a:r>
              <a:rPr sz="2700" b="1" i="0">
                <a:solidFill>
                  <a:srgbClr val="0A0A0A"/>
                </a:solidFill>
              </a:rPr>
              <a:t>Future work should model external-signal-controlled miRNA switching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9F4EA3-775E-4CE1-B292-D04701A7B42C}"/>
              </a:ext>
            </a:extLst>
          </p:cNvPr>
          <p:cNvSpPr>
            <a:spLocks noGrp="1"/>
          </p:cNvSpPr>
          <p:nvPr/>
        </p:nvSpPr>
        <p:spPr>
          <a:xfrm>
            <a:off x="495300" y="1476375"/>
            <a:ext cx="112014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5046091-14E3-4764-A880-BD960FB4FB1F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10858500" cy="723900"/>
          </a:xfrm>
          <a:prstGeom prst="rect">
            <a:avLst/>
          </a:prstGeom>
          <a:solidFill>
            <a:srgbClr val="F1F1F1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1949397"/>
            <a:ext cx="10515600" cy="44460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D320D52-CB87-486B-AD3A-6EF89E5B9D3B}"/>
              </a:ext>
            </a:extLst>
          </p:cNvPr>
          <p:cNvSpPr>
            <a:spLocks noGrp="1"/>
          </p:cNvSpPr>
          <p:nvPr/>
        </p:nvSpPr>
        <p:spPr>
          <a:xfrm>
            <a:off x="742950" y="27813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0A0A0A"/>
                </a:solidFill>
              </a:defRPr>
            </a:pPr>
            <a:r>
              <a:rPr sz="1800" b="1" i="0">
                <a:solidFill>
                  <a:srgbClr val="0A0A0A"/>
                </a:solidFill>
              </a:rPr>
              <a:t>Main question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1AA73A-31C7-453E-AEC1-6E231DA1491F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287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0A0A0A"/>
                </a:solidFill>
              </a:defRPr>
            </a:pPr>
            <a:r>
              <a:rPr sz="1800" b="0" i="0">
                <a:solidFill>
                  <a:srgbClr val="0A0A0A"/>
                </a:solidFill>
              </a:rPr>
              <a:t>How do stimulus intensity, duration, and timing determine whether the system remains in L1, switches normally to L2, or follows an abnormal path?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AC692B-434D-4872-86D6-338818F497C9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0A0A0A"/>
                </a:solidFill>
              </a:defRPr>
            </a:pPr>
            <a:r>
              <a:rPr sz="1800" b="1" i="0">
                <a:solidFill>
                  <a:srgbClr val="0A0A0A"/>
                </a:solidFill>
              </a:rPr>
              <a:t>Parameter-space map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F6D6A33-6FF5-4FCF-B8D6-35F4D5EA7F50}"/>
              </a:ext>
            </a:extLst>
          </p:cNvPr>
          <p:cNvSpPr>
            <a:spLocks noGrp="1"/>
          </p:cNvSpPr>
          <p:nvPr/>
        </p:nvSpPr>
        <p:spPr>
          <a:xfrm>
            <a:off x="742950" y="4495800"/>
            <a:ext cx="10239375" cy="1257300"/>
          </a:xfrm>
          <a:prstGeom prst="rect">
            <a:avLst/>
          </a:prstGeom>
          <a:solidFill>
            <a:srgbClr val="F1F1F1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190277" y="4591050"/>
            <a:ext cx="5344722" cy="106680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E04B7768-7F37-45E0-9893-BCC10E8483E7}"/>
              </a:ext>
            </a:extLst>
          </p:cNvPr>
          <p:cNvSpPr>
            <a:spLocks noGrp="1"/>
          </p:cNvSpPr>
          <p:nvPr/>
        </p:nvSpPr>
        <p:spPr>
          <a:xfrm>
            <a:off x="495300" y="64389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55555"/>
                </a:solidFill>
              </a:defRPr>
            </a:pPr>
            <a:r>
              <a:rPr sz="900" b="0" i="0">
                <a:solidFill>
                  <a:srgbClr val="555555"/>
                </a:solidFill>
              </a:rPr>
              <a:t>miRNA-regulated gene network model | 7/8</a:t>
            </a:r>
          </a:p>
        </p:txBody>
      </p:sp>
    </p:spTree>
    <p:extLst>
      <p:ext uri="{BB962C8B-B14F-4D97-AF65-F5344CB8AC3E}">
        <p14:creationId xmlns:p14="http://schemas.microsoft.com/office/powerpoint/2010/main" val="921536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DBE165B9-6BFE-49F1-86D7-96FBF36272D3}"/>
              </a:ext>
            </a:extLst>
          </p:cNvPr>
          <p:cNvSpPr>
            <a:spLocks noGrp="1"/>
          </p:cNvSpPr>
          <p:nvPr/>
        </p:nvSpPr>
        <p:spPr>
          <a:xfrm>
            <a:off x="495300" y="333375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PROPOSED MATHEMATICAL FRAMEWORK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596E98A-9CB9-41C5-8566-B4DE4EFB705F}"/>
              </a:ext>
            </a:extLst>
          </p:cNvPr>
          <p:cNvSpPr>
            <a:spLocks noGrp="1"/>
          </p:cNvSpPr>
          <p:nvPr/>
        </p:nvSpPr>
        <p:spPr>
          <a:xfrm>
            <a:off x="495300" y="685800"/>
            <a:ext cx="1066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0A0A0A"/>
                </a:solidFill>
              </a:defRPr>
            </a:pPr>
            <a:r>
              <a:rPr sz="2700" b="1" i="0">
                <a:solidFill>
                  <a:srgbClr val="0A0A0A"/>
                </a:solidFill>
              </a:rPr>
              <a:t>A compact extended model links signal dynamics to developmental switching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EBBC285-52F9-46DC-9F5B-075D75FD8305}"/>
              </a:ext>
            </a:extLst>
          </p:cNvPr>
          <p:cNvSpPr>
            <a:spLocks noGrp="1"/>
          </p:cNvSpPr>
          <p:nvPr/>
        </p:nvSpPr>
        <p:spPr>
          <a:xfrm>
            <a:off x="495300" y="1476375"/>
            <a:ext cx="112014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2457791-6924-4D9E-8006-5C663F437523}"/>
              </a:ext>
            </a:extLst>
          </p:cNvPr>
          <p:cNvSpPr>
            <a:spLocks noGrp="1"/>
          </p:cNvSpPr>
          <p:nvPr/>
        </p:nvSpPr>
        <p:spPr>
          <a:xfrm>
            <a:off x="571500" y="1695450"/>
            <a:ext cx="11049000" cy="552450"/>
          </a:xfrm>
          <a:prstGeom prst="rect">
            <a:avLst/>
          </a:prstGeom>
          <a:solidFill>
            <a:srgbClr val="F1F1F1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40171" y="1790700"/>
            <a:ext cx="2711658" cy="36195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398F65F-A102-483B-A4E8-71B4563FCDEC}"/>
              </a:ext>
            </a:extLst>
          </p:cNvPr>
          <p:cNvSpPr>
            <a:spLocks noGrp="1"/>
          </p:cNvSpPr>
          <p:nvPr/>
        </p:nvSpPr>
        <p:spPr>
          <a:xfrm>
            <a:off x="571500" y="2400300"/>
            <a:ext cx="11049000" cy="552450"/>
          </a:xfrm>
          <a:prstGeom prst="rect">
            <a:avLst/>
          </a:prstGeom>
          <a:solidFill>
            <a:srgbClr val="F1F1F1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449291" y="2495550"/>
            <a:ext cx="3293419" cy="36195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7F6B0B9-A8B2-4F04-992A-894D693F4CC6}"/>
              </a:ext>
            </a:extLst>
          </p:cNvPr>
          <p:cNvSpPr>
            <a:spLocks noGrp="1"/>
          </p:cNvSpPr>
          <p:nvPr/>
        </p:nvSpPr>
        <p:spPr>
          <a:xfrm>
            <a:off x="571500" y="3105150"/>
            <a:ext cx="5334000" cy="666750"/>
          </a:xfrm>
          <a:prstGeom prst="rect">
            <a:avLst/>
          </a:prstGeom>
          <a:solidFill>
            <a:srgbClr val="F1F1F1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252090" y="3200400"/>
            <a:ext cx="3972821" cy="47625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9DF63224-542A-41FF-B466-DF3FFD0E56B5}"/>
              </a:ext>
            </a:extLst>
          </p:cNvPr>
          <p:cNvSpPr>
            <a:spLocks noGrp="1"/>
          </p:cNvSpPr>
          <p:nvPr/>
        </p:nvSpPr>
        <p:spPr>
          <a:xfrm>
            <a:off x="6286500" y="3105150"/>
            <a:ext cx="5334000" cy="666750"/>
          </a:xfrm>
          <a:prstGeom prst="rect">
            <a:avLst/>
          </a:prstGeom>
          <a:solidFill>
            <a:srgbClr val="F1F1F1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038324" y="3200400"/>
            <a:ext cx="3830353" cy="47625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6AA3322-2FAE-463D-9DC8-2E25469336DB}"/>
              </a:ext>
            </a:extLst>
          </p:cNvPr>
          <p:cNvSpPr>
            <a:spLocks noGrp="1"/>
          </p:cNvSpPr>
          <p:nvPr/>
        </p:nvSpPr>
        <p:spPr>
          <a:xfrm>
            <a:off x="571500" y="3943350"/>
            <a:ext cx="11049000" cy="533400"/>
          </a:xfrm>
          <a:prstGeom prst="rect">
            <a:avLst/>
          </a:prstGeom>
          <a:solidFill>
            <a:srgbClr val="F1F1F1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226889" y="4038600"/>
            <a:ext cx="3738222" cy="3429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5988DF61-0AC2-48A8-9372-73E4AC2DB248}"/>
              </a:ext>
            </a:extLst>
          </p:cNvPr>
          <p:cNvSpPr>
            <a:spLocks noGrp="1"/>
          </p:cNvSpPr>
          <p:nvPr/>
        </p:nvSpPr>
        <p:spPr>
          <a:xfrm>
            <a:off x="723900" y="47625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0A0A0A"/>
                </a:solidFill>
              </a:defRPr>
            </a:pPr>
            <a:r>
              <a:rPr sz="1650" b="1" i="0">
                <a:solidFill>
                  <a:srgbClr val="0A0A0A"/>
                </a:solidFill>
              </a:rPr>
              <a:t>Analysis plan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6C95059-2ABF-4463-ABCF-654FBC076D6B}"/>
              </a:ext>
            </a:extLst>
          </p:cNvPr>
          <p:cNvSpPr>
            <a:spLocks noGrp="1"/>
          </p:cNvSpPr>
          <p:nvPr/>
        </p:nvSpPr>
        <p:spPr>
          <a:xfrm>
            <a:off x="762000" y="5133975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FF6B35"/>
                </a:solidFill>
              </a:defRPr>
            </a:pPr>
            <a:r>
              <a:rPr sz="1200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4F78A46-5324-4E2F-9CD6-9E3F6F1157E0}"/>
              </a:ext>
            </a:extLst>
          </p:cNvPr>
          <p:cNvSpPr>
            <a:spLocks noGrp="1"/>
          </p:cNvSpPr>
          <p:nvPr/>
        </p:nvSpPr>
        <p:spPr>
          <a:xfrm>
            <a:off x="1028700" y="5124450"/>
            <a:ext cx="10020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0A0A0A"/>
                </a:solidFill>
              </a:defRPr>
            </a:pPr>
            <a:r>
              <a:rPr sz="1200" b="0" i="0">
                <a:solidFill>
                  <a:srgbClr val="0A0A0A"/>
                </a:solidFill>
              </a:rPr>
              <a:t>Equilibria and local stability using the Jacobian at each steady state.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981A59-3066-4850-B96D-7D0D8C6608E1}"/>
              </a:ext>
            </a:extLst>
          </p:cNvPr>
          <p:cNvSpPr>
            <a:spLocks noGrp="1"/>
          </p:cNvSpPr>
          <p:nvPr/>
        </p:nvSpPr>
        <p:spPr>
          <a:xfrm>
            <a:off x="762000" y="541020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FF6B35"/>
                </a:solidFill>
              </a:defRPr>
            </a:pPr>
            <a:r>
              <a:rPr sz="1200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B6FDB30-5C3D-432D-90BE-C03F798D6968}"/>
              </a:ext>
            </a:extLst>
          </p:cNvPr>
          <p:cNvSpPr>
            <a:spLocks noGrp="1"/>
          </p:cNvSpPr>
          <p:nvPr/>
        </p:nvSpPr>
        <p:spPr>
          <a:xfrm>
            <a:off x="1028700" y="5400675"/>
            <a:ext cx="10020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0A0A0A"/>
                </a:solidFill>
              </a:defRPr>
            </a:pPr>
            <a:r>
              <a:rPr sz="1200" b="0" i="0">
                <a:solidFill>
                  <a:srgbClr val="0A0A0A"/>
                </a:solidFill>
              </a:rPr>
              <a:t>Bifurcations in A, T, zeta_max, and K_Z; focus on bistability, hysteresis, and saddle-node crossing.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1A97EFE-AFCD-43CE-8BFE-8EB02DC2E42B}"/>
              </a:ext>
            </a:extLst>
          </p:cNvPr>
          <p:cNvSpPr>
            <a:spLocks noGrp="1"/>
          </p:cNvSpPr>
          <p:nvPr/>
        </p:nvSpPr>
        <p:spPr>
          <a:xfrm>
            <a:off x="762000" y="5686425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FF6B35"/>
                </a:solidFill>
              </a:defRPr>
            </a:pPr>
            <a:r>
              <a:rPr sz="1200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07772C5-AD14-4FDA-9EE8-966FAC4EEF8A}"/>
              </a:ext>
            </a:extLst>
          </p:cNvPr>
          <p:cNvSpPr>
            <a:spLocks noGrp="1"/>
          </p:cNvSpPr>
          <p:nvPr/>
        </p:nvSpPr>
        <p:spPr>
          <a:xfrm>
            <a:off x="1028700" y="5676900"/>
            <a:ext cx="10020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0A0A0A"/>
                </a:solidFill>
              </a:defRPr>
            </a:pPr>
            <a:r>
              <a:rPr sz="1200" b="0" i="0">
                <a:solidFill>
                  <a:srgbClr val="0A0A0A"/>
                </a:solidFill>
              </a:rPr>
              <a:t>Switching-time analysis with thresholds for N, L, and Psi.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ED10B7D-CD50-44DA-9F7A-A6BA7FBE9D4F}"/>
              </a:ext>
            </a:extLst>
          </p:cNvPr>
          <p:cNvSpPr>
            <a:spLocks noGrp="1"/>
          </p:cNvSpPr>
          <p:nvPr/>
        </p:nvSpPr>
        <p:spPr>
          <a:xfrm>
            <a:off x="762000" y="596265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FF6B35"/>
                </a:solidFill>
              </a:defRPr>
            </a:pPr>
            <a:r>
              <a:rPr sz="1200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E952417-EB59-4EE4-BE76-59D38696DFED}"/>
              </a:ext>
            </a:extLst>
          </p:cNvPr>
          <p:cNvSpPr>
            <a:spLocks noGrp="1"/>
          </p:cNvSpPr>
          <p:nvPr/>
        </p:nvSpPr>
        <p:spPr>
          <a:xfrm>
            <a:off x="1028700" y="5953125"/>
            <a:ext cx="10020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0A0A0A"/>
                </a:solidFill>
              </a:defRPr>
            </a:pPr>
            <a:r>
              <a:rPr sz="1200" b="0" i="0">
                <a:solidFill>
                  <a:srgbClr val="0A0A0A"/>
                </a:solidFill>
              </a:rPr>
              <a:t>Conclusion: Hesse's calibration, pulse, and regularization methods make the Haque switch testable under external control.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4577DCC-EAA8-4C22-898D-EAA0DF0A1CD9}"/>
              </a:ext>
            </a:extLst>
          </p:cNvPr>
          <p:cNvSpPr>
            <a:spLocks noGrp="1"/>
          </p:cNvSpPr>
          <p:nvPr/>
        </p:nvSpPr>
        <p:spPr>
          <a:xfrm>
            <a:off x="495300" y="64389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55555"/>
                </a:solidFill>
              </a:defRPr>
            </a:pPr>
            <a:r>
              <a:rPr sz="900" b="0" i="0">
                <a:solidFill>
                  <a:srgbClr val="555555"/>
                </a:solidFill>
              </a:rPr>
              <a:t>miRNA-regulated gene network model | 8/8</a:t>
            </a:r>
          </a:p>
        </p:txBody>
      </p:sp>
    </p:spTree>
    <p:extLst>
      <p:ext uri="{BB962C8B-B14F-4D97-AF65-F5344CB8AC3E}">
        <p14:creationId xmlns:p14="http://schemas.microsoft.com/office/powerpoint/2010/main" val="81682549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659</Words>
  <Application>Microsoft Macintosh PowerPoint</Application>
  <DocSecurity>0</DocSecurity>
  <PresentationFormat>宽屏</PresentationFormat>
  <Paragraphs>98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0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t4840</cp:lastModifiedBy>
  <cp:revision>1</cp:revision>
  <dcterms:created xsi:type="dcterms:W3CDTF">2026-07-25T08:36:26Z</dcterms:created>
  <dcterms:modified xsi:type="dcterms:W3CDTF">2026-07-25T08:44:43Z</dcterms:modified>
</cp:coreProperties>
</file>